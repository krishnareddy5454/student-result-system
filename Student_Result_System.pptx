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2" r:id="rId6"/>
    <p:sldId id="263" r:id="rId7"/>
    <p:sldId id="264" r:id="rId8"/>
    <p:sldId id="265" r:id="rId9"/>
    <p:sldId id="269" r:id="rId10"/>
    <p:sldId id="270" r:id="rId11"/>
    <p:sldId id="272" r:id="rId12"/>
    <p:sldId id="273" r:id="rId13"/>
    <p:sldId id="280" r:id="rId14"/>
    <p:sldId id="281" r:id="rId15"/>
    <p:sldId id="282" r:id="rId16"/>
    <p:sldId id="274" r:id="rId17"/>
    <p:sldId id="276" r:id="rId18"/>
    <p:sldId id="278" r:id="rId19"/>
    <p:sldId id="27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001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4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4.jpe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1520"/>
            <a:ext cx="6492240" cy="5242560"/>
          </a:xfrm>
          <a:prstGeom prst="roundRect">
            <a:avLst>
              <a:gd name="adj" fmla="val 436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868680" y="1097280"/>
            <a:ext cx="640080" cy="640080"/>
          </a:xfrm>
          <a:prstGeom prst="ellipse">
            <a:avLst/>
          </a:prstGeom>
          <a:solidFill>
            <a:srgbClr val="0B3D91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1292352"/>
            <a:ext cx="347472" cy="3474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335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CORNERSTONE PROJECT BASED LEARNING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194560"/>
            <a:ext cx="6035040" cy="1584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</a:t>
            </a:r>
            <a:endParaRPr lang="en-US" sz="3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420000"/>
            <a:ext cx="603504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Science &amp; Engineering (2026-2027)</a:t>
            </a:r>
            <a:endParaRPr lang="en-US" sz="165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900000"/>
            <a:ext cx="6035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Oriented Programming through C++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868680" y="5059680"/>
            <a:ext cx="2194560" cy="512064"/>
          </a:xfrm>
          <a:prstGeom prst="roundRect">
            <a:avLst>
              <a:gd name="adj" fmla="val 21429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868680" y="505968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 Year – 3rd Semester</a:t>
            </a:r>
            <a:endParaRPr lang="en-US" sz="1490" dirty="0"/>
          </a:p>
        </p:txBody>
      </p:sp>
      <p:sp>
        <p:nvSpPr>
          <p:cNvPr id="12" name="Shape 9"/>
          <p:cNvSpPr/>
          <p:nvPr/>
        </p:nvSpPr>
        <p:spPr>
          <a:xfrm>
            <a:off x="7269480" y="731520"/>
            <a:ext cx="4343400" cy="5242560"/>
          </a:xfrm>
          <a:prstGeom prst="roundRect">
            <a:avLst>
              <a:gd name="adj" fmla="val 5263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7543800" y="103632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SUBMITTED BY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7543800" y="14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S.L.V.KRISHNA REDDY</a:t>
            </a:r>
            <a:endParaRPr lang="en-US" sz="1490" dirty="0"/>
          </a:p>
        </p:txBody>
      </p:sp>
      <p:sp>
        <p:nvSpPr>
          <p:cNvPr id="15" name="Text 12"/>
          <p:cNvSpPr txBox="1"/>
          <p:nvPr/>
        </p:nvSpPr>
        <p:spPr>
          <a:xfrm>
            <a:off x="7543800" y="14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90" b="1" kern="0" spc="1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25B11CS861</a:t>
            </a:r>
            <a:endParaRPr lang="en-US" sz="1490" dirty="0"/>
          </a:p>
        </p:txBody>
      </p:sp>
      <p:sp>
        <p:nvSpPr>
          <p:cNvPr id="16" name="Text 13"/>
          <p:cNvSpPr txBox="1"/>
          <p:nvPr/>
        </p:nvSpPr>
        <p:spPr>
          <a:xfrm>
            <a:off x="7543800" y="18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 SURYA AKHIL</a:t>
            </a:r>
            <a:endParaRPr lang="en-US" sz="1490" dirty="0"/>
          </a:p>
        </p:txBody>
      </p:sp>
      <p:sp>
        <p:nvSpPr>
          <p:cNvPr id="17" name="Text 14"/>
          <p:cNvSpPr txBox="1"/>
          <p:nvPr/>
        </p:nvSpPr>
        <p:spPr>
          <a:xfrm>
            <a:off x="7543800" y="18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90" b="1" kern="0" spc="1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25B11CS717</a:t>
            </a:r>
            <a:endParaRPr lang="en-US" sz="1490" dirty="0"/>
          </a:p>
        </p:txBody>
      </p:sp>
      <p:sp>
        <p:nvSpPr>
          <p:cNvPr id="18" name="Text 15"/>
          <p:cNvSpPr txBox="1"/>
          <p:nvPr/>
        </p:nvSpPr>
        <p:spPr>
          <a:xfrm>
            <a:off x="7543800" y="22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K.S.R.MOKSHAGNA</a:t>
            </a:r>
            <a:endParaRPr lang="en-US" sz="1490" dirty="0"/>
          </a:p>
        </p:txBody>
      </p:sp>
      <p:sp>
        <p:nvSpPr>
          <p:cNvPr id="19" name="Text 16"/>
          <p:cNvSpPr txBox="1"/>
          <p:nvPr/>
        </p:nvSpPr>
        <p:spPr>
          <a:xfrm>
            <a:off x="7543800" y="22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90" b="1" kern="0" spc="1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25B11CS453</a:t>
            </a:r>
            <a:endParaRPr lang="en-US" sz="1490" dirty="0"/>
          </a:p>
        </p:txBody>
      </p:sp>
      <p:sp>
        <p:nvSpPr>
          <p:cNvPr id="20" name="Text 17"/>
          <p:cNvSpPr txBox="1"/>
          <p:nvPr/>
        </p:nvSpPr>
        <p:spPr>
          <a:xfrm>
            <a:off x="7543800" y="26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K.VITESH KRISHNA</a:t>
            </a:r>
            <a:endParaRPr lang="en-US" sz="1490" dirty="0"/>
          </a:p>
        </p:txBody>
      </p:sp>
      <p:sp>
        <p:nvSpPr>
          <p:cNvPr id="21" name="Text 18"/>
          <p:cNvSpPr txBox="1"/>
          <p:nvPr/>
        </p:nvSpPr>
        <p:spPr>
          <a:xfrm>
            <a:off x="7543800" y="26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490" b="1" kern="0" spc="1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25B11CS483</a:t>
            </a:r>
            <a:endParaRPr lang="en-US" sz="1490" dirty="0"/>
          </a:p>
        </p:txBody>
      </p:sp>
      <p:sp>
        <p:nvSpPr>
          <p:cNvPr id="22" name="Text 19"/>
          <p:cNvSpPr txBox="1"/>
          <p:nvPr/>
        </p:nvSpPr>
        <p:spPr>
          <a:xfrm>
            <a:off x="7543800" y="342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 THE GUIDANCE OF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543800" y="3860000"/>
            <a:ext cx="402336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 Sushma Devi</a:t>
            </a:r>
            <a:endParaRPr lang="en-US" sz="1600" dirty="0"/>
          </a:p>
        </p:txBody>
      </p:sp>
      <p:sp>
        <p:nvSpPr>
          <p:cNvPr id="24" name="Rectangle 23"/>
          <p:cNvSpPr/>
          <p:nvPr/>
        </p:nvSpPr>
        <p:spPr>
          <a:xfrm>
            <a:off x="7543800" y="3180000"/>
            <a:ext cx="3840480" cy="12700"/>
          </a:xfrm>
          <a:prstGeom prst="rect">
            <a:avLst/>
          </a:prstGeom>
          <a:solidFill>
            <a:srgbClr val="4A6F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 11"/>
          <p:cNvSpPr txBox="1"/>
          <p:nvPr/>
        </p:nvSpPr>
        <p:spPr>
          <a:xfrm>
            <a:off x="7543800" y="428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0" dirty="0">
                <a:solidFill>
                  <a:srgbClr val="D6E0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1490" dirty="0"/>
          </a:p>
        </p:txBody>
      </p:sp>
      <p:sp>
        <p:nvSpPr>
          <p:cNvPr id="26" name="Text 11"/>
          <p:cNvSpPr txBox="1"/>
          <p:nvPr/>
        </p:nvSpPr>
        <p:spPr>
          <a:xfrm>
            <a:off x="7543800" y="4600000"/>
            <a:ext cx="3840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b="0" dirty="0">
                <a:solidFill>
                  <a:srgbClr val="D6E0F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 CSE</a:t>
            </a:r>
            <a:endParaRPr lang="en-US" sz="1490" dirty="0"/>
          </a:p>
        </p:txBody>
      </p:sp>
      <p:pic>
        <p:nvPicPr>
          <p:cNvPr id="25" name="Aditya University 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70000"/>
            <a:ext cx="3082718" cy="420000"/>
          </a:xfrm>
          <a:prstGeom prst="rect">
            <a:avLst/>
          </a:prstGeom>
        </p:spPr>
      </p:pic>
      <p:sp>
        <p:nvSpPr>
          <p:cNvPr id="28" name="Text 10">
            <a:extLst>
              <a:ext uri="{FF2B5EF4-FFF2-40B4-BE49-F238E27FC236}">
                <a16:creationId xmlns:a16="http://schemas.microsoft.com/office/drawing/2014/main" id="{EA644501-51DE-94FF-57EC-450EBEDB885E}"/>
              </a:ext>
            </a:extLst>
          </p:cNvPr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85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 19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Abstract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3474720"/>
          </a:xfrm>
          <a:prstGeom prst="roundRect">
            <a:avLst>
              <a:gd name="adj" fmla="val 4211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822960" y="2097024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Student Result System is a menu-driven C++ application designed to calculate student academic results.</a:t>
            </a:r>
            <a:endParaRPr lang="en-US" sz="149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system accepts student details and subject marks as input and automatically calculates total marks, percentage, and grade.</a:t>
            </a:r>
            <a:endParaRPr lang="en-US" sz="149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55136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It provides a simple and organized way to enter, process, and display student results while reducing manual calculation errors.</a:t>
            </a:r>
            <a:endParaRPr lang="en-US" sz="149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584192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The project demonstrates the practical application of Object-Oriented Programming concepts such as classes, objects, encapsulation, constructors, and member functions.</a:t>
            </a:r>
            <a:endParaRPr lang="en-US" sz="149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11064240" cy="829056"/>
          </a:xfrm>
          <a:prstGeom prst="roundRect">
            <a:avLst>
              <a:gd name="adj" fmla="val 15441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 txBox="1"/>
          <p:nvPr/>
        </p:nvSpPr>
        <p:spPr>
          <a:xfrm>
            <a:off x="822960" y="5486400"/>
            <a:ext cx="105156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proposed system aims to make student result processing simple, accurate and modular.</a:t>
            </a:r>
            <a:endParaRPr lang="en-US" sz="149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/ 19</a:t>
            </a:r>
            <a:endParaRPr lang="en-US" sz="850" dirty="0"/>
          </a:p>
        </p:txBody>
      </p:sp>
      <p:pic>
        <p:nvPicPr>
          <p:cNvPr id="13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Definition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950720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950720"/>
            <a:ext cx="457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950720"/>
            <a:ext cx="102870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result calculation involves repeated calculations and may lead to errors.</a:t>
            </a:r>
            <a:endParaRPr lang="en-US" sz="1490" dirty="0"/>
          </a:p>
        </p:txBody>
      </p:sp>
      <p:sp>
        <p:nvSpPr>
          <p:cNvPr id="7" name="Shape 5"/>
          <p:cNvSpPr/>
          <p:nvPr/>
        </p:nvSpPr>
        <p:spPr>
          <a:xfrm>
            <a:off x="548640" y="2828544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2828544"/>
            <a:ext cx="457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28544"/>
            <a:ext cx="102870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Calculating total, percentage, and grades for multiple students requires additional effort.</a:t>
            </a:r>
            <a:endParaRPr lang="en-US" sz="1490" dirty="0"/>
          </a:p>
        </p:txBody>
      </p:sp>
      <p:sp>
        <p:nvSpPr>
          <p:cNvPr id="10" name="Shape 8"/>
          <p:cNvSpPr/>
          <p:nvPr/>
        </p:nvSpPr>
        <p:spPr>
          <a:xfrm>
            <a:off x="548640" y="3706368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13232" y="3706368"/>
            <a:ext cx="457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706368"/>
            <a:ext cx="102870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and faculty need a simple way to calculate and display academic results.</a:t>
            </a:r>
            <a:endParaRPr lang="en-US" sz="1490" dirty="0"/>
          </a:p>
        </p:txBody>
      </p:sp>
      <p:sp>
        <p:nvSpPr>
          <p:cNvPr id="13" name="Shape 11"/>
          <p:cNvSpPr/>
          <p:nvPr/>
        </p:nvSpPr>
        <p:spPr>
          <a:xfrm>
            <a:off x="548640" y="4584192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" y="4584192"/>
            <a:ext cx="457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584192"/>
            <a:ext cx="102870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proposes a C++ based system to automate basic result processing.</a:t>
            </a:r>
            <a:endParaRPr lang="en-US" sz="1490" dirty="0"/>
          </a:p>
        </p:txBody>
      </p:sp>
      <p:sp>
        <p:nvSpPr>
          <p:cNvPr id="16" name="Shape 14"/>
          <p:cNvSpPr/>
          <p:nvPr/>
        </p:nvSpPr>
        <p:spPr>
          <a:xfrm>
            <a:off x="548640" y="5462016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13232" y="5462016"/>
            <a:ext cx="4572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462016"/>
            <a:ext cx="1028700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should also validate marks and handle invalid inputs appropriately.</a:t>
            </a:r>
            <a:endParaRPr lang="en-US" sz="149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/ 19</a:t>
            </a:r>
            <a:endParaRPr lang="en-US" sz="850" dirty="0"/>
          </a:p>
        </p:txBody>
      </p:sp>
      <p:pic>
        <p:nvPicPr>
          <p:cNvPr id="21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89760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88976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889760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simple and user-friendly C++ application for student result calculation.</a:t>
            </a:r>
            <a:endParaRPr lang="en-US" sz="1490" dirty="0"/>
          </a:p>
        </p:txBody>
      </p:sp>
      <p:sp>
        <p:nvSpPr>
          <p:cNvPr id="7" name="Shape 5"/>
          <p:cNvSpPr/>
          <p:nvPr/>
        </p:nvSpPr>
        <p:spPr>
          <a:xfrm>
            <a:off x="548640" y="3084576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3084576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084576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and process student information using classes and objects.</a:t>
            </a:r>
            <a:endParaRPr lang="en-US" sz="1490" dirty="0"/>
          </a:p>
        </p:txBody>
      </p:sp>
      <p:sp>
        <p:nvSpPr>
          <p:cNvPr id="10" name="Shape 8"/>
          <p:cNvSpPr/>
          <p:nvPr/>
        </p:nvSpPr>
        <p:spPr>
          <a:xfrm>
            <a:off x="548640" y="4279392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13232" y="42793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4279392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 subject-wise marks and validate the entered values.</a:t>
            </a:r>
            <a:endParaRPr lang="en-US" sz="1490" dirty="0"/>
          </a:p>
        </p:txBody>
      </p:sp>
      <p:sp>
        <p:nvSpPr>
          <p:cNvPr id="13" name="Shape 11"/>
          <p:cNvSpPr/>
          <p:nvPr/>
        </p:nvSpPr>
        <p:spPr>
          <a:xfrm>
            <a:off x="548640" y="5474208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" y="5474208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5474208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total marks and percentage automatically.</a:t>
            </a:r>
            <a:endParaRPr lang="en-US" sz="1490" dirty="0"/>
          </a:p>
        </p:txBody>
      </p:sp>
      <p:sp>
        <p:nvSpPr>
          <p:cNvPr id="16" name="Shape 14"/>
          <p:cNvSpPr/>
          <p:nvPr/>
        </p:nvSpPr>
        <p:spPr>
          <a:xfrm>
            <a:off x="6080760" y="1889760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6245352" y="1889760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1889760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the appropriate grade based on student performance.</a:t>
            </a:r>
            <a:endParaRPr lang="en-US" sz="1490" dirty="0"/>
          </a:p>
        </p:txBody>
      </p:sp>
      <p:sp>
        <p:nvSpPr>
          <p:cNvPr id="19" name="Shape 17"/>
          <p:cNvSpPr/>
          <p:nvPr/>
        </p:nvSpPr>
        <p:spPr>
          <a:xfrm>
            <a:off x="6080760" y="3084576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245352" y="3084576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084576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clear and meaningful student results.</a:t>
            </a:r>
            <a:endParaRPr lang="en-US" sz="1490" dirty="0"/>
          </a:p>
        </p:txBody>
      </p:sp>
      <p:sp>
        <p:nvSpPr>
          <p:cNvPr id="22" name="Shape 20"/>
          <p:cNvSpPr/>
          <p:nvPr/>
        </p:nvSpPr>
        <p:spPr>
          <a:xfrm>
            <a:off x="6080760" y="4279392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6245352" y="4279392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279392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OOP concepts such as encapsulation, constructors, and member functions.</a:t>
            </a:r>
            <a:endParaRPr lang="en-US" sz="1490" dirty="0"/>
          </a:p>
        </p:txBody>
      </p:sp>
      <p:sp>
        <p:nvSpPr>
          <p:cNvPr id="25" name="Shape 23"/>
          <p:cNvSpPr/>
          <p:nvPr/>
        </p:nvSpPr>
        <p:spPr>
          <a:xfrm>
            <a:off x="6080760" y="5474208"/>
            <a:ext cx="5349240" cy="1024128"/>
          </a:xfrm>
          <a:prstGeom prst="roundRect">
            <a:avLst>
              <a:gd name="adj" fmla="val 11607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45352" y="5474208"/>
            <a:ext cx="4572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675120" y="5474208"/>
            <a:ext cx="457200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modular functions to make the system easy to understand and maintain.</a:t>
            </a:r>
            <a:endParaRPr lang="en-US" sz="149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/ 19</a:t>
            </a:r>
            <a:endParaRPr lang="en-US" sz="850" dirty="0"/>
          </a:p>
        </p:txBody>
      </p:sp>
      <p:pic>
        <p:nvPicPr>
          <p:cNvPr id="30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05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Modules / Functions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89760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1962912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800" y="2076480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889760"/>
            <a:ext cx="1463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1</a:t>
            </a:r>
            <a:endParaRPr lang="en-US" sz="1490" dirty="0"/>
          </a:p>
        </p:txBody>
      </p:sp>
      <p:sp>
        <p:nvSpPr>
          <p:cNvPr id="8" name="Text 5"/>
          <p:cNvSpPr txBox="1"/>
          <p:nvPr/>
        </p:nvSpPr>
        <p:spPr>
          <a:xfrm>
            <a:off x="2834640" y="1889760"/>
            <a:ext cx="804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Details and Marks Entry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2767584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13232" y="2840736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800" y="2954304"/>
            <a:ext cx="193487" cy="1934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2767584"/>
            <a:ext cx="1463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2</a:t>
            </a:r>
            <a:endParaRPr lang="en-US" sz="1490" dirty="0"/>
          </a:p>
        </p:txBody>
      </p:sp>
      <p:sp>
        <p:nvSpPr>
          <p:cNvPr id="13" name="Text 9"/>
          <p:cNvSpPr txBox="1"/>
          <p:nvPr/>
        </p:nvSpPr>
        <p:spPr>
          <a:xfrm>
            <a:off x="2834640" y="2767584"/>
            <a:ext cx="804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48640" y="3645408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3232" y="3718560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800" y="3832128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3645408"/>
            <a:ext cx="1463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3</a:t>
            </a:r>
            <a:endParaRPr lang="en-US" sz="1490" dirty="0"/>
          </a:p>
        </p:txBody>
      </p:sp>
      <p:sp>
        <p:nvSpPr>
          <p:cNvPr id="18" name="Text 13"/>
          <p:cNvSpPr txBox="1"/>
          <p:nvPr/>
        </p:nvSpPr>
        <p:spPr>
          <a:xfrm>
            <a:off x="2834640" y="3645408"/>
            <a:ext cx="804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Calculation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548640" y="4523232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713232" y="4596384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6800" y="4709952"/>
            <a:ext cx="193487" cy="1934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4523232"/>
            <a:ext cx="1463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4</a:t>
            </a:r>
            <a:endParaRPr lang="en-US" sz="1490" dirty="0"/>
          </a:p>
        </p:txBody>
      </p:sp>
      <p:sp>
        <p:nvSpPr>
          <p:cNvPr id="23" name="Text 17"/>
          <p:cNvSpPr txBox="1"/>
          <p:nvPr/>
        </p:nvSpPr>
        <p:spPr>
          <a:xfrm>
            <a:off x="2834640" y="4523232"/>
            <a:ext cx="804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Percentage and Grade Calculation</a:t>
            </a:r>
            <a:endParaRPr lang="en-US" sz="1600" dirty="0"/>
          </a:p>
        </p:txBody>
      </p:sp>
      <p:sp>
        <p:nvSpPr>
          <p:cNvPr id="24" name="Shape 18"/>
          <p:cNvSpPr/>
          <p:nvPr/>
        </p:nvSpPr>
        <p:spPr>
          <a:xfrm>
            <a:off x="548640" y="5401056"/>
            <a:ext cx="11064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713232" y="547420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6800" y="5587776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25880" y="5401056"/>
            <a:ext cx="14630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</a:t>
            </a:r>
            <a:endParaRPr lang="en-US" sz="1490" dirty="0"/>
          </a:p>
        </p:txBody>
      </p:sp>
      <p:sp>
        <p:nvSpPr>
          <p:cNvPr id="28" name="Text 21"/>
          <p:cNvSpPr txBox="1"/>
          <p:nvPr/>
        </p:nvSpPr>
        <p:spPr>
          <a:xfrm>
            <a:off x="2834640" y="5401056"/>
            <a:ext cx="804672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Display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/ 19</a:t>
            </a:r>
            <a:endParaRPr lang="en-US" sz="850" dirty="0"/>
          </a:p>
        </p:txBody>
      </p:sp>
      <p:pic>
        <p:nvPicPr>
          <p:cNvPr id="31" name="Aditya University Logo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06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 &amp; Expected Outputs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511040"/>
          </a:xfrm>
          <a:prstGeom prst="roundRect">
            <a:avLst>
              <a:gd name="adj" fmla="val 324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77240" y="2048256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684" y="2171700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2048256"/>
            <a:ext cx="411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651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Student Roll Number</a:t>
            </a:r>
            <a:endParaRPr lang="en-US" sz="149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349910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Student Name</a:t>
            </a:r>
            <a:endParaRPr lang="en-US" sz="149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413308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Section</a:t>
            </a:r>
            <a:endParaRPr lang="en-US" sz="149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76707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Number of Subjects</a:t>
            </a:r>
            <a:endParaRPr lang="en-US" sz="1490" dirty="0"/>
          </a:p>
        </p:txBody>
      </p:sp>
      <p:sp>
        <p:nvSpPr>
          <p:cNvPr id="12" name="Text 9"/>
          <p:cNvSpPr txBox="1"/>
          <p:nvPr/>
        </p:nvSpPr>
        <p:spPr>
          <a:xfrm>
            <a:off x="868680" y="5401056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Subject Marks</a:t>
            </a:r>
            <a:endParaRPr lang="en-US" sz="1490" dirty="0"/>
          </a:p>
        </p:txBody>
      </p:sp>
      <p:sp>
        <p:nvSpPr>
          <p:cNvPr id="13" name="Shape 10"/>
          <p:cNvSpPr/>
          <p:nvPr/>
        </p:nvSpPr>
        <p:spPr>
          <a:xfrm>
            <a:off x="6172200" y="1828800"/>
            <a:ext cx="5440680" cy="4511040"/>
          </a:xfrm>
          <a:prstGeom prst="roundRect">
            <a:avLst>
              <a:gd name="adj" fmla="val 3243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6400800" y="2048256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2171700"/>
            <a:ext cx="210312" cy="21031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6995160" y="2048256"/>
            <a:ext cx="4572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Outputs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280416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Student Details</a:t>
            </a:r>
            <a:endParaRPr lang="en-US" sz="1490" dirty="0"/>
          </a:p>
        </p:txBody>
      </p:sp>
      <p:sp>
        <p:nvSpPr>
          <p:cNvPr id="18" name="Text 14"/>
          <p:cNvSpPr txBox="1"/>
          <p:nvPr/>
        </p:nvSpPr>
        <p:spPr>
          <a:xfrm>
            <a:off x="6492240" y="329184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Subject-wise Marks</a:t>
            </a:r>
            <a:endParaRPr lang="en-US" sz="1490" dirty="0"/>
          </a:p>
        </p:txBody>
      </p:sp>
      <p:sp>
        <p:nvSpPr>
          <p:cNvPr id="19" name="Text 15"/>
          <p:cNvSpPr txBox="1"/>
          <p:nvPr/>
        </p:nvSpPr>
        <p:spPr>
          <a:xfrm>
            <a:off x="6492240" y="377952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Total Marks</a:t>
            </a:r>
            <a:endParaRPr lang="en-US" sz="1490" dirty="0"/>
          </a:p>
        </p:txBody>
      </p:sp>
      <p:sp>
        <p:nvSpPr>
          <p:cNvPr id="20" name="Text 16"/>
          <p:cNvSpPr txBox="1"/>
          <p:nvPr/>
        </p:nvSpPr>
        <p:spPr>
          <a:xfrm>
            <a:off x="6492240" y="426720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Percentage</a:t>
            </a:r>
            <a:endParaRPr lang="en-US" sz="1490" dirty="0"/>
          </a:p>
        </p:txBody>
      </p:sp>
      <p:sp>
        <p:nvSpPr>
          <p:cNvPr id="21" name="Text 17"/>
          <p:cNvSpPr txBox="1"/>
          <p:nvPr/>
        </p:nvSpPr>
        <p:spPr>
          <a:xfrm>
            <a:off x="6492240" y="475488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Grade</a:t>
            </a:r>
            <a:endParaRPr lang="en-US" sz="1490" dirty="0"/>
          </a:p>
        </p:txBody>
      </p:sp>
      <p:sp>
        <p:nvSpPr>
          <p:cNvPr id="22" name="Text 18"/>
          <p:cNvSpPr txBox="1"/>
          <p:nvPr/>
        </p:nvSpPr>
        <p:spPr>
          <a:xfrm>
            <a:off x="6492240" y="524256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PASS / FAIL Status</a:t>
            </a:r>
            <a:endParaRPr lang="en-US" sz="1490" dirty="0"/>
          </a:p>
        </p:txBody>
      </p:sp>
      <p:sp>
        <p:nvSpPr>
          <p:cNvPr id="23" name="Text 19"/>
          <p:cNvSpPr txBox="1"/>
          <p:nvPr/>
        </p:nvSpPr>
        <p:spPr>
          <a:xfrm>
            <a:off x="6492240" y="5730240"/>
            <a:ext cx="48463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Formatted Student Result</a:t>
            </a:r>
            <a:endParaRPr lang="en-US" sz="1490" dirty="0"/>
          </a:p>
        </p:txBody>
      </p:sp>
      <p:sp>
        <p:nvSpPr>
          <p:cNvPr id="24" name="Text 20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5" name="Text 21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 / 19</a:t>
            </a:r>
            <a:endParaRPr lang="en-US" sz="850" dirty="0"/>
          </a:p>
        </p:txBody>
      </p:sp>
      <p:pic>
        <p:nvPicPr>
          <p:cNvPr id="26" name="Aditya University Logo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07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89760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889760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</a:t>
            </a:r>
            <a:endParaRPr lang="en-US" sz="1490" dirty="0"/>
          </a:p>
        </p:txBody>
      </p:sp>
      <p:sp>
        <p:nvSpPr>
          <p:cNvPr id="6" name="Text 4"/>
          <p:cNvSpPr txBox="1"/>
          <p:nvPr/>
        </p:nvSpPr>
        <p:spPr>
          <a:xfrm>
            <a:off x="1783080" y="1889760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Start the program.</a:t>
            </a:r>
            <a:endParaRPr lang="en-US" sz="1490" dirty="0"/>
          </a:p>
        </p:txBody>
      </p:sp>
      <p:sp>
        <p:nvSpPr>
          <p:cNvPr id="7" name="Shape 5"/>
          <p:cNvSpPr/>
          <p:nvPr/>
        </p:nvSpPr>
        <p:spPr>
          <a:xfrm>
            <a:off x="6080760" y="1889760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6263640" y="1889760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2</a:t>
            </a:r>
            <a:endParaRPr lang="en-US" sz="149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889760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Create a Student object.</a:t>
            </a:r>
            <a:endParaRPr lang="en-US" sz="1490" dirty="0"/>
          </a:p>
        </p:txBody>
      </p:sp>
      <p:sp>
        <p:nvSpPr>
          <p:cNvPr id="10" name="Shape 8"/>
          <p:cNvSpPr/>
          <p:nvPr/>
        </p:nvSpPr>
        <p:spPr>
          <a:xfrm>
            <a:off x="548640" y="2767584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31520" y="2767584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3</a:t>
            </a:r>
            <a:endParaRPr lang="en-US" sz="1490" dirty="0"/>
          </a:p>
        </p:txBody>
      </p:sp>
      <p:sp>
        <p:nvSpPr>
          <p:cNvPr id="12" name="Text 10"/>
          <p:cNvSpPr txBox="1"/>
          <p:nvPr/>
        </p:nvSpPr>
        <p:spPr>
          <a:xfrm>
            <a:off x="1783080" y="2767584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 student details.</a:t>
            </a:r>
            <a:endParaRPr lang="en-US" sz="1490" dirty="0"/>
          </a:p>
        </p:txBody>
      </p:sp>
      <p:sp>
        <p:nvSpPr>
          <p:cNvPr id="13" name="Shape 11"/>
          <p:cNvSpPr/>
          <p:nvPr/>
        </p:nvSpPr>
        <p:spPr>
          <a:xfrm>
            <a:off x="6080760" y="2767584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6263640" y="2767584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4</a:t>
            </a:r>
            <a:endParaRPr lang="en-US" sz="1490" dirty="0"/>
          </a:p>
        </p:txBody>
      </p:sp>
      <p:sp>
        <p:nvSpPr>
          <p:cNvPr id="15" name="Text 13"/>
          <p:cNvSpPr txBox="1"/>
          <p:nvPr/>
        </p:nvSpPr>
        <p:spPr>
          <a:xfrm>
            <a:off x="7315200" y="2767584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Enter subject-wise marks.</a:t>
            </a:r>
            <a:endParaRPr lang="en-US" sz="1490" dirty="0"/>
          </a:p>
        </p:txBody>
      </p:sp>
      <p:sp>
        <p:nvSpPr>
          <p:cNvPr id="16" name="Shape 14"/>
          <p:cNvSpPr/>
          <p:nvPr/>
        </p:nvSpPr>
        <p:spPr>
          <a:xfrm>
            <a:off x="548640" y="3645408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31520" y="3645408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5</a:t>
            </a:r>
            <a:endParaRPr lang="en-US" sz="149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645408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Validate each mark.</a:t>
            </a:r>
            <a:endParaRPr lang="en-US" sz="1490" dirty="0"/>
          </a:p>
        </p:txBody>
      </p:sp>
      <p:sp>
        <p:nvSpPr>
          <p:cNvPr id="19" name="Shape 17"/>
          <p:cNvSpPr/>
          <p:nvPr/>
        </p:nvSpPr>
        <p:spPr>
          <a:xfrm>
            <a:off x="6080760" y="3645408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6263640" y="3645408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6</a:t>
            </a:r>
            <a:endParaRPr lang="en-US" sz="149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3645408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total marks.</a:t>
            </a:r>
            <a:endParaRPr lang="en-US" sz="1490" dirty="0"/>
          </a:p>
        </p:txBody>
      </p:sp>
      <p:sp>
        <p:nvSpPr>
          <p:cNvPr id="22" name="Shape 20"/>
          <p:cNvSpPr/>
          <p:nvPr/>
        </p:nvSpPr>
        <p:spPr>
          <a:xfrm>
            <a:off x="548640" y="4523232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 txBox="1"/>
          <p:nvPr/>
        </p:nvSpPr>
        <p:spPr>
          <a:xfrm>
            <a:off x="731520" y="4523232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7</a:t>
            </a:r>
            <a:endParaRPr lang="en-US" sz="149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4523232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 percentage.</a:t>
            </a:r>
            <a:endParaRPr lang="en-US" sz="1490" dirty="0"/>
          </a:p>
        </p:txBody>
      </p:sp>
      <p:sp>
        <p:nvSpPr>
          <p:cNvPr id="25" name="Shape 23"/>
          <p:cNvSpPr/>
          <p:nvPr/>
        </p:nvSpPr>
        <p:spPr>
          <a:xfrm>
            <a:off x="6080760" y="4523232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 txBox="1"/>
          <p:nvPr/>
        </p:nvSpPr>
        <p:spPr>
          <a:xfrm>
            <a:off x="6263640" y="4523232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8</a:t>
            </a:r>
            <a:endParaRPr lang="en-US" sz="149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523232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Determine grade and PASS/FAIL status.</a:t>
            </a:r>
            <a:endParaRPr lang="en-US" sz="1490" dirty="0"/>
          </a:p>
        </p:txBody>
      </p:sp>
      <p:sp>
        <p:nvSpPr>
          <p:cNvPr id="28" name="Shape 26"/>
          <p:cNvSpPr/>
          <p:nvPr/>
        </p:nvSpPr>
        <p:spPr>
          <a:xfrm>
            <a:off x="548640" y="5401056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 txBox="1"/>
          <p:nvPr/>
        </p:nvSpPr>
        <p:spPr>
          <a:xfrm>
            <a:off x="731520" y="5401056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9</a:t>
            </a:r>
            <a:endParaRPr lang="en-US" sz="1490" dirty="0"/>
          </a:p>
        </p:txBody>
      </p:sp>
      <p:sp>
        <p:nvSpPr>
          <p:cNvPr id="30" name="Text 28"/>
          <p:cNvSpPr txBox="1"/>
          <p:nvPr/>
        </p:nvSpPr>
        <p:spPr>
          <a:xfrm>
            <a:off x="1783080" y="5401056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 the student result.</a:t>
            </a:r>
            <a:endParaRPr lang="en-US" sz="1490" dirty="0"/>
          </a:p>
        </p:txBody>
      </p:sp>
      <p:sp>
        <p:nvSpPr>
          <p:cNvPr id="31" name="Shape 29"/>
          <p:cNvSpPr/>
          <p:nvPr/>
        </p:nvSpPr>
        <p:spPr>
          <a:xfrm>
            <a:off x="6080760" y="5401056"/>
            <a:ext cx="5349240" cy="707136"/>
          </a:xfrm>
          <a:prstGeom prst="roundRect">
            <a:avLst>
              <a:gd name="adj" fmla="val 1681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 txBox="1"/>
          <p:nvPr/>
        </p:nvSpPr>
        <p:spPr>
          <a:xfrm>
            <a:off x="6263640" y="5401056"/>
            <a:ext cx="100584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Step 10</a:t>
            </a:r>
            <a:endParaRPr lang="en-US" sz="1490" dirty="0"/>
          </a:p>
        </p:txBody>
      </p:sp>
      <p:sp>
        <p:nvSpPr>
          <p:cNvPr id="33" name="Text 31"/>
          <p:cNvSpPr txBox="1"/>
          <p:nvPr/>
        </p:nvSpPr>
        <p:spPr>
          <a:xfrm>
            <a:off x="7315200" y="5401056"/>
            <a:ext cx="4023360" cy="707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 the program.</a:t>
            </a:r>
            <a:endParaRPr lang="en-US" sz="149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/ 19</a:t>
            </a:r>
            <a:endParaRPr lang="en-US" sz="850" dirty="0"/>
          </a:p>
        </p:txBody>
      </p:sp>
      <p:pic>
        <p:nvPicPr>
          <p:cNvPr id="36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08   /   PLANNING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47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Flowchart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 / 19</a:t>
            </a:r>
            <a:endParaRPr lang="en-US" sz="850" dirty="0"/>
          </a:p>
        </p:txBody>
      </p:sp>
      <p:pic>
        <p:nvPicPr>
          <p:cNvPr id="28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4132314" y="275000"/>
            <a:ext cx="3927371" cy="616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C9D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flow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314" y="330000"/>
            <a:ext cx="3707371" cy="605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09   /   IMPLEMENTATION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219200"/>
          </a:xfrm>
          <a:prstGeom prst="roundRect">
            <a:avLst>
              <a:gd name="adj" fmla="val 1200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828800"/>
            <a:ext cx="493776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 class represents one student's information.</a:t>
            </a:r>
            <a:endParaRPr lang="en-US" sz="149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55264"/>
            <a:ext cx="365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COMBINES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657600"/>
            <a:ext cx="5394960" cy="1219200"/>
          </a:xfrm>
          <a:prstGeom prst="roundRect">
            <a:avLst>
              <a:gd name="adj" fmla="val 1050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1520" y="3962400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4085844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38282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data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71600" y="42184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roll number, name, section, subjects and marks</a:t>
            </a:r>
            <a:endParaRPr lang="en-US" sz="1490" dirty="0"/>
          </a:p>
        </p:txBody>
      </p:sp>
      <p:sp>
        <p:nvSpPr>
          <p:cNvPr id="12" name="Shape 9"/>
          <p:cNvSpPr/>
          <p:nvPr/>
        </p:nvSpPr>
        <p:spPr>
          <a:xfrm>
            <a:off x="548640" y="5023104"/>
            <a:ext cx="5394960" cy="1219200"/>
          </a:xfrm>
          <a:prstGeom prst="roundRect">
            <a:avLst>
              <a:gd name="adj" fmla="val 1050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731520" y="5327904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964" y="5451348"/>
            <a:ext cx="210312" cy="2103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371600" y="51937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operations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1371600" y="5583936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adding details, entering marks and displaying results</a:t>
            </a:r>
            <a:endParaRPr lang="en-US" sz="1490" dirty="0"/>
          </a:p>
        </p:txBody>
      </p:sp>
      <p:sp>
        <p:nvSpPr>
          <p:cNvPr id="17" name="Shape 13"/>
          <p:cNvSpPr/>
          <p:nvPr/>
        </p:nvSpPr>
        <p:spPr>
          <a:xfrm>
            <a:off x="6172200" y="1828800"/>
            <a:ext cx="5440680" cy="4450080"/>
          </a:xfrm>
          <a:prstGeom prst="roundRect">
            <a:avLst>
              <a:gd name="adj" fmla="val 3288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6355080" y="1999488"/>
            <a:ext cx="50749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CLASS DEFINITION</a:t>
            </a:r>
            <a:endParaRPr lang="en-US" sz="1600" dirty="0"/>
          </a:p>
        </p:txBody>
      </p:sp>
      <p:sp>
        <p:nvSpPr>
          <p:cNvPr id="19" name="Text 15"/>
          <p:cNvSpPr txBox="1"/>
          <p:nvPr/>
        </p:nvSpPr>
        <p:spPr>
          <a:xfrm>
            <a:off x="6355080" y="2438400"/>
            <a:ext cx="5074920" cy="3718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roll;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subjects;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marks[10];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name;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section;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addDetails();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addMarks();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displayResult();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1" name="Text 17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/ 19</a:t>
            </a:r>
            <a:endParaRPr lang="en-US" sz="850" dirty="0"/>
          </a:p>
        </p:txBody>
      </p:sp>
      <p:pic>
        <p:nvPicPr>
          <p:cNvPr id="22" name="Aditya University Logo" descr="lo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  /   IMPLEMENTATION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Member Function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1402080"/>
          </a:xfrm>
          <a:prstGeom prst="roundRect">
            <a:avLst>
              <a:gd name="adj" fmla="val 913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2072640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2196084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975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addDetails()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365248"/>
            <a:ext cx="42062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Accepts and validates student details such as roll number, name, section, and number of subjects.</a:t>
            </a:r>
            <a:endParaRPr lang="en-US" sz="1490" dirty="0"/>
          </a:p>
        </p:txBody>
      </p:sp>
      <p:sp>
        <p:nvSpPr>
          <p:cNvPr id="9" name="Shape 6"/>
          <p:cNvSpPr/>
          <p:nvPr/>
        </p:nvSpPr>
        <p:spPr>
          <a:xfrm>
            <a:off x="548640" y="3352800"/>
            <a:ext cx="5120640" cy="1402080"/>
          </a:xfrm>
          <a:prstGeom prst="roundRect">
            <a:avLst>
              <a:gd name="adj" fmla="val 913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713232" y="3596640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" y="3720084"/>
            <a:ext cx="210312" cy="21031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325880" y="3499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addMarks()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1325880" y="3889248"/>
            <a:ext cx="42062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Accepts and validates marks for each subject and stores them in the marks array.</a:t>
            </a:r>
            <a:endParaRPr lang="en-US" sz="1490" dirty="0"/>
          </a:p>
        </p:txBody>
      </p:sp>
      <p:sp>
        <p:nvSpPr>
          <p:cNvPr id="14" name="Shape 10"/>
          <p:cNvSpPr/>
          <p:nvPr/>
        </p:nvSpPr>
        <p:spPr>
          <a:xfrm>
            <a:off x="548640" y="4876800"/>
            <a:ext cx="5120640" cy="1402080"/>
          </a:xfrm>
          <a:prstGeom prst="roundRect">
            <a:avLst>
              <a:gd name="adj" fmla="val 9130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3232" y="5120640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" y="5244084"/>
            <a:ext cx="210312" cy="21031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25880" y="50231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displayResult()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325880" y="5413248"/>
            <a:ext cx="420624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Calculates total, percentage, grade, and PASS/FAIL status, then displays the complete result.</a:t>
            </a:r>
            <a:endParaRPr lang="en-US" sz="1490" dirty="0"/>
          </a:p>
        </p:txBody>
      </p:sp>
      <p:sp>
        <p:nvSpPr>
          <p:cNvPr id="19" name="Shape 14"/>
          <p:cNvSpPr/>
          <p:nvPr/>
        </p:nvSpPr>
        <p:spPr>
          <a:xfrm>
            <a:off x="5897880" y="1828800"/>
            <a:ext cx="5715000" cy="4450080"/>
          </a:xfrm>
          <a:prstGeom prst="roundRect">
            <a:avLst>
              <a:gd name="adj" fmla="val 3288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5"/>
          <p:cNvSpPr txBox="1"/>
          <p:nvPr/>
        </p:nvSpPr>
        <p:spPr>
          <a:xfrm>
            <a:off x="6080760" y="2023872"/>
            <a:ext cx="5349240" cy="4133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addDetails(){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cout &lt;&lt; "\nEnter Roll Number (Maximum 10 characters): 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cin &gt;&gt; roll;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(!validRollNumber(roll))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"\nInvalid roll number format!\n";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"Roll number must contain only letters and numbers.\n";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"Maximum length is 10 characters.\n";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"Special characters and spaces are not allowed.\n";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roll = normalizeRoll(roll);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(rollExists(roll))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"\nRoll number already exists!\n";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"Please enter another roll number.\n";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20" dirty="0"/>
          </a:p>
          <a:p>
            <a:pPr marL="0" indent="0">
              <a:lnSpc>
                <a:spcPts val="97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2" name="Text 17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/ 19</a:t>
            </a:r>
            <a:endParaRPr lang="en-US" sz="850" dirty="0"/>
          </a:p>
        </p:txBody>
      </p:sp>
      <p:pic>
        <p:nvPicPr>
          <p:cNvPr id="23" name="Aditya University Logo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  /   IMPLEMENTATION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3984"/>
            <a:ext cx="987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addMarks() &amp; displayResult()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41120"/>
            <a:ext cx="5532120" cy="4998720"/>
          </a:xfrm>
          <a:prstGeom prst="roundRect">
            <a:avLst>
              <a:gd name="adj" fmla="val 292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31520" y="1536192"/>
            <a:ext cx="5166360" cy="46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Student::addMarks()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input;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subjects; i++)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cout &lt;&lt; "Enter Marks for Subject "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&lt;&lt; i + 1 &lt;&lt; " (0-100): 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cin &gt;&gt; input;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(!getValidInteger(input, marks[i]))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"\nInvalid marks!\n";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"Please enter a numeric value between 0 and 100.\n";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(marks[i] &lt; 0 || marks[i] &gt; 100)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"\nInvalid marks!\n";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cout &lt;&lt; "Marks must be between 0 and 100.\n";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cout &lt;&lt; "\nMarks entered successfully!\n";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6309360" y="1341120"/>
            <a:ext cx="5303520" cy="4998720"/>
          </a:xfrm>
          <a:prstGeom prst="roundRect">
            <a:avLst>
              <a:gd name="adj" fmla="val 292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492240" y="1536192"/>
            <a:ext cx="4937760" cy="4681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Student::displayResult()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 = 0;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pass =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0; i &lt; subjects; i++)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total += marks[i];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(marks[i] &lt; 40)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pass =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percentage = (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)total / subjects;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grade;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90)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"A+";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80)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"A";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70)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"B";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60)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"C";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50)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"D";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&gt;= 40)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"E";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grade = "F";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(percentage &lt; 40)</a:t>
            </a:r>
            <a:endParaRPr lang="en-US" sz="820" dirty="0"/>
          </a:p>
          <a:p>
            <a:pPr marL="0" indent="0">
              <a:lnSpc>
                <a:spcPts val="980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pass = </a:t>
            </a:r>
            <a:r>
              <a:rPr lang="en-US" sz="82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82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82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11347186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 / 19</a:t>
            </a:r>
            <a:endParaRPr lang="en-US" sz="850" dirty="0"/>
          </a:p>
        </p:txBody>
      </p:sp>
      <p:pic>
        <p:nvPicPr>
          <p:cNvPr id="10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268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  /   OUTPUT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33984"/>
            <a:ext cx="98755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341120"/>
            <a:ext cx="5989320" cy="4998720"/>
          </a:xfrm>
          <a:prstGeom prst="roundRect">
            <a:avLst>
              <a:gd name="adj" fmla="val 292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77240" y="1990000"/>
            <a:ext cx="5623560" cy="42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STUDENT RESULT SYSTEM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Add Student Details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Add Marks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View Results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Exit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Roll Number (Maximum 10 characters):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101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Name: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Krishna Reddy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Section (A-Z):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Number of Subjects (1-10):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Marks for Subject 1 (0-100):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85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Marks for Subject 2 (0-100):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76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Marks for Subject 3 (0-100):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92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Marks for Subject 4 (0-100):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68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Marks for Subject 5 (0-100):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81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Marks entered successfully!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Enter your choice: </a:t>
            </a:r>
            <a:r>
              <a:rPr lang="en-US" sz="950" b="1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766560" y="1341120"/>
            <a:ext cx="4846320" cy="4998720"/>
          </a:xfrm>
          <a:prstGeom prst="roundRect">
            <a:avLst>
              <a:gd name="adj" fmla="val 3019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 txBox="1"/>
          <p:nvPr/>
        </p:nvSpPr>
        <p:spPr>
          <a:xfrm>
            <a:off x="6995160" y="1560576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DISPLAYED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995160" y="1990000"/>
            <a:ext cx="4389120" cy="420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STUDENT RESULT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Roll Number       : 101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             : Krishna Reddy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           : A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Number of Subjects: 5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        Marks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1       85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2       76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3       92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4       68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Subject 5       81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----------------------------------------------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            : 402 / 500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Percentage        : 80.40%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Grade             : A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b="1" dirty="0">
                <a:solidFill>
                  <a:srgbClr val="0B3D9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           : PASS</a:t>
            </a:r>
            <a:endParaRPr lang="en-US" sz="9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950" dirty="0">
                <a:solidFill>
                  <a:srgbClr val="F47B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==============================================</a:t>
            </a:r>
            <a:endParaRPr lang="en-US" sz="950" dirty="0"/>
          </a:p>
        </p:txBody>
      </p:sp>
      <p:sp>
        <p:nvSpPr>
          <p:cNvPr id="12" name="Text 5"/>
          <p:cNvSpPr txBox="1"/>
          <p:nvPr/>
        </p:nvSpPr>
        <p:spPr>
          <a:xfrm>
            <a:off x="777240" y="1560576"/>
            <a:ext cx="43891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CONSOLE MENU &amp; INPUT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/ 19</a:t>
            </a:r>
            <a:endParaRPr lang="en-US" sz="850" dirty="0"/>
          </a:p>
        </p:txBody>
      </p:sp>
      <p:pic>
        <p:nvPicPr>
          <p:cNvPr id="11" name="Aditya University Logo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B09088-FC8B-028E-899D-66014F353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E717BF9-7AD7-2A2C-DAC9-2B35B63EE6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450" y="223052"/>
            <a:ext cx="639284" cy="58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356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50DA02-D045-9D4F-C062-10FBE91A78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83A56CB-43CD-595E-806F-E601461FC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450" y="223052"/>
            <a:ext cx="639284" cy="58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1262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209238-48AF-CDFA-5AEB-26FE8C0329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5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D4D73E7-5AC7-5CE2-3927-FDB891C1A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384" y="146852"/>
            <a:ext cx="639284" cy="583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939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   /   IMPLEMENTATION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OOPs Concepts Used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780288"/>
          </a:xfrm>
          <a:prstGeom prst="roundRect">
            <a:avLst>
              <a:gd name="adj" fmla="val 1523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85800" y="193852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68" y="2052096"/>
            <a:ext cx="193487" cy="193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828800"/>
            <a:ext cx="21945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Class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566160" y="1828800"/>
            <a:ext cx="786384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 class is used to group student data and related functions into a single unit.</a:t>
            </a:r>
            <a:endParaRPr lang="en-US" sz="149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780288"/>
          </a:xfrm>
          <a:prstGeom prst="roundRect">
            <a:avLst>
              <a:gd name="adj" fmla="val 1523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685800" y="285292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368" y="2966496"/>
            <a:ext cx="193487" cy="19348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80160" y="2743200"/>
            <a:ext cx="21945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Objects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2743200"/>
            <a:ext cx="786384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students[100];</a:t>
            </a: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creates an array of Student objects to store details of multiple students.</a:t>
            </a:r>
            <a:endParaRPr lang="en-US" sz="149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11064240" cy="780288"/>
          </a:xfrm>
          <a:prstGeom prst="roundRect">
            <a:avLst>
              <a:gd name="adj" fmla="val 1523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685800" y="376732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368" y="3880896"/>
            <a:ext cx="193487" cy="19348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3657600"/>
            <a:ext cx="21945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Encapsulation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3566160" y="3657600"/>
            <a:ext cx="786384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data members and their related member functions are grouped together inside the Student class.</a:t>
            </a:r>
            <a:endParaRPr lang="en-US" sz="1490" dirty="0"/>
          </a:p>
        </p:txBody>
      </p:sp>
      <p:sp>
        <p:nvSpPr>
          <p:cNvPr id="19" name="Shape 14"/>
          <p:cNvSpPr/>
          <p:nvPr/>
        </p:nvSpPr>
        <p:spPr>
          <a:xfrm>
            <a:off x="548640" y="4572000"/>
            <a:ext cx="11064240" cy="780288"/>
          </a:xfrm>
          <a:prstGeom prst="roundRect">
            <a:avLst>
              <a:gd name="adj" fmla="val 1523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685800" y="468172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9368" y="4795296"/>
            <a:ext cx="193487" cy="19348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280160" y="4572000"/>
            <a:ext cx="21945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Member Functions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3566160" y="4572000"/>
            <a:ext cx="786384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addDetails()</a:t>
            </a: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r>
              <a:rPr lang="en-US" sz="149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addMarks()</a:t>
            </a: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and </a:t>
            </a:r>
            <a:r>
              <a:rPr lang="en-US" sz="149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displayResult()</a:t>
            </a: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perform operations on the data of each Student object.</a:t>
            </a:r>
            <a:endParaRPr lang="en-US" sz="1490" dirty="0"/>
          </a:p>
        </p:txBody>
      </p:sp>
      <p:sp>
        <p:nvSpPr>
          <p:cNvPr id="24" name="Shape 18"/>
          <p:cNvSpPr/>
          <p:nvPr/>
        </p:nvSpPr>
        <p:spPr>
          <a:xfrm>
            <a:off x="548640" y="5486400"/>
            <a:ext cx="11064240" cy="780288"/>
          </a:xfrm>
          <a:prstGeom prst="roundRect">
            <a:avLst>
              <a:gd name="adj" fmla="val 15234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685800" y="5596128"/>
            <a:ext cx="420624" cy="420624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9368" y="5709696"/>
            <a:ext cx="193487" cy="193487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80160" y="5486400"/>
            <a:ext cx="219456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5.  Abstraction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3566160" y="5486400"/>
            <a:ext cx="7863840" cy="780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Complex operations such as validation and result calculation are handled through functions, so the main program can simply call the required function.</a:t>
            </a:r>
            <a:endParaRPr lang="en-US" sz="1490" dirty="0"/>
          </a:p>
        </p:txBody>
      </p:sp>
      <p:sp>
        <p:nvSpPr>
          <p:cNvPr id="29" name="Text 22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30" name="Text 23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/ 19</a:t>
            </a:r>
            <a:endParaRPr lang="en-US" sz="850" dirty="0"/>
          </a:p>
        </p:txBody>
      </p:sp>
      <p:pic>
        <p:nvPicPr>
          <p:cNvPr id="31" name="Aditya University Logo" descr="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   /   TEAM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Member Contributions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889760"/>
            <a:ext cx="1106424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13232" y="2060448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2183892"/>
            <a:ext cx="210312" cy="210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987296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S.L.V. KRISHNA REDDY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371600" y="2401824"/>
            <a:ext cx="2103120" cy="341376"/>
          </a:xfrm>
          <a:prstGeom prst="roundRect">
            <a:avLst>
              <a:gd name="adj" fmla="val 8035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1371600" y="2401824"/>
            <a:ext cx="2103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Analysis &amp; Design</a:t>
            </a:r>
            <a:endParaRPr lang="en-US" sz="1490" dirty="0"/>
          </a:p>
        </p:txBody>
      </p:sp>
      <p:sp>
        <p:nvSpPr>
          <p:cNvPr id="10" name="Text 7"/>
          <p:cNvSpPr txBox="1"/>
          <p:nvPr/>
        </p:nvSpPr>
        <p:spPr>
          <a:xfrm>
            <a:off x="4709160" y="1962912"/>
            <a:ext cx="6766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Lead, problem analysis, requirements, overall coordination, integration of modules.</a:t>
            </a:r>
            <a:endParaRPr lang="en-US" sz="1490" dirty="0"/>
          </a:p>
        </p:txBody>
      </p:sp>
      <p:sp>
        <p:nvSpPr>
          <p:cNvPr id="11" name="Shape 8"/>
          <p:cNvSpPr/>
          <p:nvPr/>
        </p:nvSpPr>
        <p:spPr>
          <a:xfrm>
            <a:off x="548640" y="3011424"/>
            <a:ext cx="1106424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13232" y="3182112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3305556"/>
            <a:ext cx="210312" cy="210312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71600" y="31089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P. SURYA AKHIL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1371600" y="3523488"/>
            <a:ext cx="2103120" cy="341376"/>
          </a:xfrm>
          <a:prstGeom prst="roundRect">
            <a:avLst>
              <a:gd name="adj" fmla="val 8035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1371600" y="3523488"/>
            <a:ext cx="2103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490" dirty="0"/>
          </a:p>
        </p:txBody>
      </p:sp>
      <p:sp>
        <p:nvSpPr>
          <p:cNvPr id="17" name="Text 13"/>
          <p:cNvSpPr txBox="1"/>
          <p:nvPr/>
        </p:nvSpPr>
        <p:spPr>
          <a:xfrm>
            <a:off x="4709160" y="3084576"/>
            <a:ext cx="6766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&amp; Validation Module — student details, marks entry, input validation, calculations and developing the application.</a:t>
            </a:r>
            <a:endParaRPr lang="en-US" sz="1490" dirty="0"/>
          </a:p>
        </p:txBody>
      </p:sp>
      <p:sp>
        <p:nvSpPr>
          <p:cNvPr id="18" name="Shape 14"/>
          <p:cNvSpPr/>
          <p:nvPr/>
        </p:nvSpPr>
        <p:spPr>
          <a:xfrm>
            <a:off x="548640" y="4133088"/>
            <a:ext cx="1106424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5"/>
          <p:cNvSpPr/>
          <p:nvPr/>
        </p:nvSpPr>
        <p:spPr>
          <a:xfrm>
            <a:off x="713232" y="4303776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4427220"/>
            <a:ext cx="210312" cy="2103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371600" y="4230624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S. R. MOKSHAGNA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1371600" y="4645152"/>
            <a:ext cx="2103120" cy="341376"/>
          </a:xfrm>
          <a:prstGeom prst="roundRect">
            <a:avLst>
              <a:gd name="adj" fmla="val 8035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 txBox="1"/>
          <p:nvPr/>
        </p:nvSpPr>
        <p:spPr>
          <a:xfrm>
            <a:off x="1371600" y="4645152"/>
            <a:ext cx="2103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</a:t>
            </a:r>
            <a:endParaRPr lang="en-US" sz="1490" dirty="0"/>
          </a:p>
        </p:txBody>
      </p:sp>
      <p:sp>
        <p:nvSpPr>
          <p:cNvPr id="24" name="Text 19"/>
          <p:cNvSpPr txBox="1"/>
          <p:nvPr/>
        </p:nvSpPr>
        <p:spPr>
          <a:xfrm>
            <a:off x="4709160" y="4206240"/>
            <a:ext cx="6766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Processing Module and coordinating in the implementation.</a:t>
            </a:r>
            <a:endParaRPr lang="en-US" sz="1490" dirty="0"/>
          </a:p>
        </p:txBody>
      </p:sp>
      <p:sp>
        <p:nvSpPr>
          <p:cNvPr id="25" name="Shape 20"/>
          <p:cNvSpPr/>
          <p:nvPr/>
        </p:nvSpPr>
        <p:spPr>
          <a:xfrm>
            <a:off x="548640" y="5254752"/>
            <a:ext cx="11064240" cy="950976"/>
          </a:xfrm>
          <a:prstGeom prst="roundRect">
            <a:avLst>
              <a:gd name="adj" fmla="val 13462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1"/>
          <p:cNvSpPr/>
          <p:nvPr/>
        </p:nvSpPr>
        <p:spPr>
          <a:xfrm>
            <a:off x="713232" y="5425440"/>
            <a:ext cx="457200" cy="457200"/>
          </a:xfrm>
          <a:prstGeom prst="ellipse">
            <a:avLst/>
          </a:prstGeom>
          <a:solidFill>
            <a:srgbClr val="FFFFFF">
              <a:alpha val="72000"/>
            </a:srgbClr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" y="5548884"/>
            <a:ext cx="210312" cy="210312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371600" y="535228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K. V. KRISHNA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1371600" y="5766816"/>
            <a:ext cx="2103120" cy="341376"/>
          </a:xfrm>
          <a:prstGeom prst="roundRect">
            <a:avLst>
              <a:gd name="adj" fmla="val 80357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4"/>
          <p:cNvSpPr txBox="1"/>
          <p:nvPr/>
        </p:nvSpPr>
        <p:spPr>
          <a:xfrm>
            <a:off x="1371600" y="5766816"/>
            <a:ext cx="21031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&amp; Maintenance</a:t>
            </a:r>
            <a:endParaRPr lang="en-US" sz="1490" dirty="0"/>
          </a:p>
        </p:txBody>
      </p:sp>
      <p:sp>
        <p:nvSpPr>
          <p:cNvPr id="31" name="Text 25"/>
          <p:cNvSpPr txBox="1"/>
          <p:nvPr/>
        </p:nvSpPr>
        <p:spPr>
          <a:xfrm>
            <a:off x="4709160" y="5327904"/>
            <a:ext cx="676656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&amp; Testing, Documentation.</a:t>
            </a:r>
            <a:endParaRPr lang="en-US" sz="1490" dirty="0"/>
          </a:p>
        </p:txBody>
      </p:sp>
      <p:sp>
        <p:nvSpPr>
          <p:cNvPr id="32" name="Text 26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33" name="Text 27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 / 19</a:t>
            </a:r>
            <a:endParaRPr lang="en-US" sz="850" dirty="0"/>
          </a:p>
        </p:txBody>
      </p:sp>
      <p:pic>
        <p:nvPicPr>
          <p:cNvPr id="34" name="Aditya University 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7680"/>
            <a:ext cx="80467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3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  /   FUTURE SCOPE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9056"/>
            <a:ext cx="987552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1767840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 txBox="1"/>
          <p:nvPr/>
        </p:nvSpPr>
        <p:spPr>
          <a:xfrm>
            <a:off x="713232" y="1767840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767840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 student records permanently using file handling or a database.</a:t>
            </a:r>
            <a:endParaRPr lang="en-US" sz="1490" dirty="0"/>
          </a:p>
        </p:txBody>
      </p:sp>
      <p:sp>
        <p:nvSpPr>
          <p:cNvPr id="7" name="Shape 5"/>
          <p:cNvSpPr/>
          <p:nvPr/>
        </p:nvSpPr>
        <p:spPr>
          <a:xfrm>
            <a:off x="548640" y="2401824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 txBox="1"/>
          <p:nvPr/>
        </p:nvSpPr>
        <p:spPr>
          <a:xfrm>
            <a:off x="713232" y="2401824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401824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Add options to search, update and delete existing student records.</a:t>
            </a:r>
            <a:endParaRPr lang="en-US" sz="1490" dirty="0"/>
          </a:p>
        </p:txBody>
      </p:sp>
      <p:sp>
        <p:nvSpPr>
          <p:cNvPr id="10" name="Shape 8"/>
          <p:cNvSpPr/>
          <p:nvPr/>
        </p:nvSpPr>
        <p:spPr>
          <a:xfrm>
            <a:off x="548640" y="3035808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 txBox="1"/>
          <p:nvPr/>
        </p:nvSpPr>
        <p:spPr>
          <a:xfrm>
            <a:off x="713232" y="3035808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035808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class-wise reports, rank lists and subject-wise statistics.</a:t>
            </a:r>
            <a:endParaRPr lang="en-US" sz="1490" dirty="0"/>
          </a:p>
        </p:txBody>
      </p:sp>
      <p:sp>
        <p:nvSpPr>
          <p:cNvPr id="13" name="Shape 11"/>
          <p:cNvSpPr/>
          <p:nvPr/>
        </p:nvSpPr>
        <p:spPr>
          <a:xfrm>
            <a:off x="548640" y="3669792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 txBox="1"/>
          <p:nvPr/>
        </p:nvSpPr>
        <p:spPr>
          <a:xfrm>
            <a:off x="713232" y="3669792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3669792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 results as printable report cards in PDF or spreadsheet format.</a:t>
            </a:r>
            <a:endParaRPr lang="en-US" sz="1490" dirty="0"/>
          </a:p>
        </p:txBody>
      </p:sp>
      <p:sp>
        <p:nvSpPr>
          <p:cNvPr id="16" name="Shape 14"/>
          <p:cNvSpPr/>
          <p:nvPr/>
        </p:nvSpPr>
        <p:spPr>
          <a:xfrm>
            <a:off x="548640" y="4303776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 txBox="1"/>
          <p:nvPr/>
        </p:nvSpPr>
        <p:spPr>
          <a:xfrm>
            <a:off x="713232" y="4303776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4303776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 a graphical (GUI) or web-based interface for easier use.</a:t>
            </a:r>
            <a:endParaRPr lang="en-US" sz="1490" dirty="0"/>
          </a:p>
        </p:txBody>
      </p:sp>
      <p:sp>
        <p:nvSpPr>
          <p:cNvPr id="19" name="Shape 17"/>
          <p:cNvSpPr/>
          <p:nvPr/>
        </p:nvSpPr>
        <p:spPr>
          <a:xfrm>
            <a:off x="548640" y="4937760"/>
            <a:ext cx="11064240" cy="463296"/>
          </a:xfrm>
          <a:prstGeom prst="roundRect">
            <a:avLst>
              <a:gd name="adj" fmla="val 25658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0B3D91">
                <a:alpha val="22000"/>
              </a:srgbClr>
            </a:solidFill>
            <a:prstDash val="solid"/>
          </a:ln>
          <a:effectLst>
            <a:outerShdw blurRad="228600" dist="50800" dir="5400000" algn="bl" rotWithShape="0">
              <a:srgbClr val="0B3D91">
                <a:alpha val="16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 txBox="1"/>
          <p:nvPr/>
        </p:nvSpPr>
        <p:spPr>
          <a:xfrm>
            <a:off x="713232" y="4937760"/>
            <a:ext cx="4572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4937760"/>
            <a:ext cx="102870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Provide secure login-based access for faculty, students and administrators.</a:t>
            </a:r>
            <a:endParaRPr lang="en-US" sz="1490" dirty="0"/>
          </a:p>
        </p:txBody>
      </p:sp>
      <p:sp>
        <p:nvSpPr>
          <p:cNvPr id="22" name="Shape 20"/>
          <p:cNvSpPr/>
          <p:nvPr/>
        </p:nvSpPr>
        <p:spPr>
          <a:xfrm>
            <a:off x="548640" y="5791200"/>
            <a:ext cx="11064240" cy="585216"/>
          </a:xfrm>
          <a:prstGeom prst="roundRect">
            <a:avLst>
              <a:gd name="adj" fmla="val 21875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67512" y="5839968"/>
            <a:ext cx="36576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267" y="5938723"/>
            <a:ext cx="168250" cy="16825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188720" y="5791200"/>
            <a:ext cx="10149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9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CONCLUSION:  A working, modular C++ application that calculates and displays student results accurately.</a:t>
            </a:r>
            <a:endParaRPr lang="en-US" sz="149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461760"/>
            <a:ext cx="64008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   |   Object Oriented Programming through C++</a:t>
            </a:r>
            <a:endParaRPr lang="en-US" sz="850" dirty="0"/>
          </a:p>
        </p:txBody>
      </p:sp>
      <p:sp>
        <p:nvSpPr>
          <p:cNvPr id="27" name="Text 24"/>
          <p:cNvSpPr txBox="1"/>
          <p:nvPr/>
        </p:nvSpPr>
        <p:spPr>
          <a:xfrm>
            <a:off x="11338560" y="6461760"/>
            <a:ext cx="4572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50" dirty="0">
                <a:solidFill>
                  <a:srgbClr val="0B3D9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 / 19</a:t>
            </a:r>
            <a:endParaRPr lang="en-US" sz="850" dirty="0"/>
          </a:p>
        </p:txBody>
      </p:sp>
      <p:pic>
        <p:nvPicPr>
          <p:cNvPr id="28" name="Aditya University 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4233" y="430000"/>
            <a:ext cx="2789126" cy="380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31233" y="1380931"/>
            <a:ext cx="6960636" cy="4166428"/>
          </a:xfrm>
          <a:prstGeom prst="roundRect">
            <a:avLst>
              <a:gd name="adj" fmla="val 7500"/>
            </a:avLst>
          </a:prstGeom>
          <a:solidFill>
            <a:srgbClr val="0B3D91">
              <a:alpha val="96000"/>
            </a:srgbClr>
          </a:solidFill>
          <a:ln w="12700">
            <a:solidFill>
              <a:srgbClr val="FFFFFF">
                <a:alpha val="45000"/>
              </a:srgbClr>
            </a:solidFill>
            <a:prstDash val="solid"/>
          </a:ln>
          <a:effectLst>
            <a:outerShdw blurRad="254000" dist="63500" dir="5400000" algn="bl" rotWithShape="0">
              <a:srgbClr val="0B3D91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5632704" y="1584960"/>
            <a:ext cx="914400" cy="9144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9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1831848"/>
            <a:ext cx="420624" cy="4206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889504" y="2987040"/>
            <a:ext cx="640080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kern="0" spc="3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2889504" y="4084320"/>
            <a:ext cx="6400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9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Result System</a:t>
            </a:r>
            <a:endParaRPr lang="en-US" sz="1490" dirty="0"/>
          </a:p>
        </p:txBody>
      </p:sp>
      <p:sp>
        <p:nvSpPr>
          <p:cNvPr id="7" name="Text 4"/>
          <p:cNvSpPr txBox="1"/>
          <p:nvPr/>
        </p:nvSpPr>
        <p:spPr>
          <a:xfrm>
            <a:off x="2889504" y="4693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90" b="1" kern="0" spc="100" dirty="0">
                <a:solidFill>
                  <a:srgbClr val="F47B2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 ORIENTED PROGRAMMING THROUGH C++</a:t>
            </a:r>
            <a:endParaRPr lang="en-US" sz="1490" dirty="0"/>
          </a:p>
        </p:txBody>
      </p:sp>
      <p:pic>
        <p:nvPicPr>
          <p:cNvPr id="8" name="Aditya University Logo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446" y="620000"/>
            <a:ext cx="3523107" cy="48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1852</Words>
  <Application>Microsoft Office PowerPoint</Application>
  <PresentationFormat>Widescreen</PresentationFormat>
  <Paragraphs>373</Paragraphs>
  <Slides>19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Consolas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Result System – Review 1 &amp; 2</dc:title>
  <dc:subject>PptxGenJS Presentation</dc:subject>
  <dc:creator>PptxGenJS</dc:creator>
  <cp:lastModifiedBy>sathi adityareddy</cp:lastModifiedBy>
  <cp:revision>13</cp:revision>
  <dcterms:created xsi:type="dcterms:W3CDTF">2026-09-22T01:30:12Z</dcterms:created>
  <dcterms:modified xsi:type="dcterms:W3CDTF">2026-10-09T08:41:51Z</dcterms:modified>
</cp:coreProperties>
</file>